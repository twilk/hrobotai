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OTWARCIE (30 s): Pokazujemy działający system, nie prototyp. Wszystko, co zobaczycie, dzieje się na żywo na danych syntetycznych w kształcie 4Mobility — 39 pracowników, 3 regiony, ponad 1500 zmian w grafiku. Zero realnych danych osobowych.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czytaj slajdu — zapowiedz tylko rytm: fundament, dwa etapy, demo, uczciwe podsumowanie.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Slajd zaufania — mów wolno. To najczęstsze pytanie PARP i działu prawnego klienta. Podkreśl: SAFE_SELECT to jedno miejsce w kodzie, przez które musi przejść każde pole; nowa kolumna z PII nie wycieknie, dopóki ktoś jej tam świadomie nie dopisze.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Kluczowy slajd na pytanie „gdzie tu w ogóle jest AI”. Mów: mamy pięć różnych mechanizmów, każdy dobrany do zadania, i każdy nazywamy po imieniu. Solver to klasyczna AI optymalizacyjna, nie uczenie maszynowe — i tak ma być, bo prawo pracy nie jest kwestią statystyki. Uczenie maszynowe jest tam, gdzie ma sens: w preferencjach i w mowie. NIE używaj słowa „reinforcement learning” — nasz agent nim nie jest, a KM2 tego nie twierdzi.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jest slajd „za co PARP zapłacił”. Najmocniejsza teza to 04 — proszę jej nie pomijać: świadome NIEUŻYCIE modelu językowego tam, gdzie decyzja ma skutek prawny, jest wyborem projektowym pod EU AI Act. Jeśli ktoś zapyta „czemu nie ChatGPT?” — to jest odpowiedź, i jest mocniejsza niż gdybyśmy go użyli.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Przejście do Etapu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/grafik. Pokaż siatkę tygodnia, filtr jednostek. UWAGA: nie klikaj „Generuj grafik” wielokrotnie — re-solve kasuje zaseedowaną zamianę demo. Talking point: solver pilnuje twardo pokrycia, kolizji, urlopów i 11 h odpoczynku.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Q&amp;A: „Czy to RL?” → Nie. Uczący się scorer preferencji + wsadowy re-fit. Stable-Baselines3 nie jest importowany w ŻADNYM module — sprawdzone. „Skąd wiadomo, że to nie ustawione?” → Domyślny scenariusz generuje wzorzec tą samą funkcją, której używa agent, więc zbiega w 5 rundach z konstrukcji. Dlatego dorobiliśmy scenariusz niezależny: 96→0 w 17 rundach, niemonotonicznie. To jest liczba, która się obroni.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SLAJD PRZEWAGI, nie przyznania się do błędu. Mów tak: liczba z KM2 była poprawnie zmierzona, ale sami uznaliśmy, że scenariusz był dla nas zbyt łaskawy, więc zbudowaliśmy trudniejszy i raportujemy słabszy, za to uczciwy wynik. Jeśli ktoś z PARP dopyta o metodykę — to jest dokładnie ta odpowiedź, której szuka. Dowody: agent-service/evidence/ag2_independent_* oraz hon2_controls_run.txt.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Przejście do Etapu 3 — ostatni kamień milowy grantu, odbiór 20.08.2026.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/dokumenty → Ewidencja, Anna Kowalska, 13–19.07.2026 → Generuj. Pokaż nowy wpis „DO ZATWIERDZENIA”. Możesz też pokazać zakres „Cała firma” dla eksportu ZUS — działa na wszystkich 39 osobach. Podkreśl: nic nie idzie do ZUS automatycznie.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/analityk. Pokaż sekcję „Na co zwrócić uwagę” — realny skok absencji i rosnąca kolejka. Zjedź niżej do wykresu nadwyżek: widać imiona i nazwiska (naprawione 10.08). Podkreśl proweniencję: przy każdej liczbie widać, czy jest policzona z danych, czy planowana.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/asystent. UWAGA — używaj TYLKO daty jednodniowej („urlop 20 sierpnia”). Znany błąd: zakres wielodniowy skleja się do jednego dnia przy 90% pewności, więc wygląda przekonująco, a jest błędny. Nie demonstruj wielodniowego na żywo.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Kolejność demo: ADMIN (dashboard → grafik → analityk → dokumenty) → ASYSTENT → PRACOWNIK (mój tydzień) → MANAGER (zamiany, koszt). Jeśli ktoś zapyta o bezpieczeństwo: zaloguj się jako manager i wpisz ręcznie /ustawienia/uzytkownicy — pokaże „Brak dostępu”.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Slajd kluczowy dla PARP. Mów spokojnie, jako mocną stronę: znamy granice własnego produktu i nie obiecujemy więcej, niż dostarczamy. To buduje wiarygodność liczb z lewej kolumny.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ZAMKNIĘCIE (1 min), potem przejście do protokołu odbioru i uwag o etapowości.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HRobot.AI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0358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kadrowy dla 4Mobility — grafik, dokumenty i AI, które tłumaczy swoje decyzje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36758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produktowe  ·  Kamień Milowy 2 + 3  ·  Poland Prize (PARP)  ·  10 sierpnia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4526280"/>
            <a:ext cx="219456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Pro sp. z o.o.  →  4Mobility sp. z o.o.  (odbiorca technologii)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SPOTKANIA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zobaczycie w ciągu 20 minut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17320" y="16916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Fundament: bezpieczeństwo i RODO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203911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Izolacja danych per klient, szyfrowanie, niezmienny audyt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258775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417320" y="258775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2 — Grafik + Agent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93522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CP-SAT pod Kodeks pracy; agent uczący się preferencji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3483864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417320" y="348386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3 — Dokumenty, Analityk, Głos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831336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moduły domykające zakres grantu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4379976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417320" y="43799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na żywo — cztery role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72744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sam system oczami admina, managera i dwóch pracowników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527608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1417320" y="527608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Uczciwy stan i dalsze kroki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62356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działa dziś, co dochodzi w kolejnym etapie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HRobot.AI  ·  Poland Prize / PARP  ·  4Mobility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Bezpieczeństwo i RODO od pierwszej linii kodu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391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2432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Izolacja per klient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Osobna baza danych dla każdego najemcy (DB-per-tenant). Dane 4Mobility nigdy nie stoją obok danych innej firmy.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3611880" y="20391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262432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Szyfrowanie PESEL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315468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+ blind index. Numer PESEL nigdy nie opuszcza bazy w stronę przeglądarki — projekcja SAFE_SELECT blokuje to systemowo.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20391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62432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Niezmienny audyt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315468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dziennik decyzji kadrowych. Wyzwalacz bazy blokuje UPDATE i DELETE — historii nie da się przepisać.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78308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9281160" y="20391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281160" y="262432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EU-Central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81160" y="315468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nie opuszczają Unii. Transkrypcja mowy liczona lokalnie, nie u zewnętrznego dostawcy.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nie jest warstwa dołożona na końcu — to ograniczenia wymuszone w kodzie, które trzeba by świadomie złamać, żeby wyciekły dane.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HRobot.AI  ·  Poland Prize / PARP  ·  4Mobility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 DOKŁADNIE JEST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Pięć warstw AI — i po co każda z nich jest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Nazywamy technikę po imieniu przy każdej warstwie. „AI” nie jest u nas etykietą marketingową, tylko konkretnym mechanizmem, który da się wskazać w kodzie i zaudytować.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27248" y="19659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50208" y="19659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 — nazwana wprost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99248" y="1965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co to klientowi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231136"/>
            <a:ext cx="11045952" cy="786384"/>
          </a:xfrm>
          <a:prstGeom prst="roundRect">
            <a:avLst>
              <a:gd name="adj" fmla="val 10465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042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grafiku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27248" y="2450592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1E2761">
              <a:alpha val="12000"/>
            </a:srgbClr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24505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50208" y="230428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symboliczna — programowanie z ograniczeniami (OR-Tools CP-SAT)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99248" y="230428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zgodny z Kodeksem pracy w sekundy zamiast dni pracy kierownika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31272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„Grafik Manager”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27248" y="3273552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1E2761">
              <a:alpha val="12000"/>
            </a:srgbClr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27248" y="32735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50208" y="312724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Uczący się scorer preferencji + wsadowy re-fit, wersjonowana polityka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99248" y="312724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w stylu TEGO managera, nie generyczny „best practice”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877056"/>
            <a:ext cx="11045952" cy="786384"/>
          </a:xfrm>
          <a:prstGeom prst="roundRect">
            <a:avLst>
              <a:gd name="adj" fmla="val 10465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950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Analityk HR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27248" y="4096512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1E2761">
              <a:alpha val="12000"/>
            </a:srgbClr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27248" y="40965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950208" y="395020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Wielowymiarowy scoring + trajektoria rozwoju, twarda granica art. 22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99248" y="395020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Gotowy sygnał „na co zwrócić uwagę” zamiast tabelek do samodzielnej analizy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" y="47731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Rozpoznawanie mowy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127248" y="4919472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1E2761">
              <a:alpha val="12000"/>
            </a:srgbClr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27248" y="4919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950208" y="477316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Sieć neuronowa Whisper (faster-whisper) — liczona LOKALNIE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699248" y="47731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Polecenie głosem; nagranie nigdy nie opuszcza infrastruktury w UE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5522976"/>
            <a:ext cx="11045952" cy="786384"/>
          </a:xfrm>
          <a:prstGeom prst="roundRect">
            <a:avLst>
              <a:gd name="adj" fmla="val 10465"/>
            </a:avLst>
          </a:prstGeom>
          <a:solidFill>
            <a:srgbClr val="F4F6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55961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intencji PL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127248" y="5742432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1E2761">
              <a:alpha val="12000"/>
            </a:srgbClr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27248" y="5742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KM3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950208" y="55961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Regułowy, deterministyczny — świadomie BEZ modelu językowego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699248" y="559612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Powtarzalność tam, gdzie decyzja ma skutek prawny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HRobot.AI  ·  Poland Prize / PARP  ·  4Mobility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WKŁAD WŁASNY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jest w tym nowatorskie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2084832"/>
          </a:xfrm>
          <a:prstGeom prst="roundRect">
            <a:avLst>
              <a:gd name="adj" fmla="val 3947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9659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98424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Rozdział twardego od miękkiego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468880"/>
            <a:ext cx="49743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gwarantuje prawo (H1–H4), agent uczy się tego, czego prawo nie koduje — stylu decyzji organizacji. Innowacją jest sam podział odpowiedzialności: da się wskazać, co wynika z przepisu, a co z uczenia. To warunek audytowalności.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91072" y="1783080"/>
            <a:ext cx="5486400" cy="2084832"/>
          </a:xfrm>
          <a:prstGeom prst="roundRect">
            <a:avLst>
              <a:gd name="adj" fmla="val 3947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6547104" y="19659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59752" y="198424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Uczenie stylu konkretnej firmy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47104" y="2468880"/>
            <a:ext cx="49743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model uniwersalny wytrenowany na cudzych danych, tylko polityka uczona i wersjonowana osobno dla każdego najemcy, na jego własnych korektach. Dane uczenia nie przechodzą między klientami.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123944"/>
            <a:ext cx="5486400" cy="2084832"/>
          </a:xfrm>
          <a:prstGeom prst="roundRect">
            <a:avLst>
              <a:gd name="adj" fmla="val 3947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30682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32511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Mowa liczona lokalnie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4672" y="4809744"/>
            <a:ext cx="49743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Transkrypcja działa na własnej infrastrukturze (faster-whisper), nie u zewnętrznego dostawcy. To decyzja zgodności — nagranie głosu jest daną osobową i nie opuszcza UE — a nie oszczędność.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91072" y="4123944"/>
            <a:ext cx="5486400" cy="2084832"/>
          </a:xfrm>
          <a:prstGeom prst="roundRect">
            <a:avLst>
              <a:gd name="adj" fmla="val 3947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6547104" y="430682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59752" y="432511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Świadoma rezygnacja z LLM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47104" y="4809744"/>
            <a:ext cx="49743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ścieżce o skutkach prawnych parser intencji jest regułowy i deterministyczny, a każda operacja zapisująca wymaga kliknięcia człowieka. W czasach „LLM wszędzie” to celowy wybór pod EU AI Act, nie brak ambicji.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HRobot.AI  ·  Poland Prize / PARP  ·  4Mobility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Grafik + Agent AI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36118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zgodny z Kodeksem pracy układany automatycznie — i agent, który uczy się, jak układa go Wasz manager.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HRobot.AI  ·  Poland Prize / PARP  ·  4Mobility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GRAFIK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Solver CP-SAT: wykonalny tydzień w kilka sekund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537960" cy="4206240"/>
          </a:xfrm>
          <a:prstGeom prst="roundRect">
            <a:avLst>
              <a:gd name="adj" fmla="val 1957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822960" y="254203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zmiany / tydzień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31720" y="196596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2331720" y="254203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zapotrzebowań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196596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3840480" y="254203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pracowników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49240" y="196596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5349240" y="2542032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jednostki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Twardo egzekwowane (H1–H4)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61188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Pełne pokrycie zapotrzebowania na każdej zmianie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nakładających się zmian jednej osoby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Respektowanie zatwierdzonych urlopów i dostępności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godzin odpoczynku dobowego (K.p. art. 132)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60920" y="1737360"/>
            <a:ext cx="4251960" cy="4206240"/>
          </a:xfrm>
          <a:prstGeom prst="roundRect">
            <a:avLst>
              <a:gd name="adj" fmla="val 195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19659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Uczciwie o granicach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35240" y="2395728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Odpoczynek tygodniowy 35 h i limity nadgodzin (H5/H6) są dziś celem miękkim, nie twardą regułą solvera. Mówimy o tym sami, zanim ktokolwiek zapyta — żeby przy odbiorze nie było niespodzianek.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35240" y="51206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Pełne H5/H6 — kolejny etap.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HRobot.AI  ·  Poland Prize / PARP  ·  4Mobility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Agent, który uczy się Waszych preferencji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nie jest drugi solver. Solver zna twarde reguły prawa. Agent uczy się MIĘKKICH preferencji zespołu z każdej korekty managera — i z każdą rundą jest bliżej tego, jak grafik ułożyłby człowiek.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6675120" cy="3154680"/>
          </a:xfrm>
          <a:prstGeom prst="roundRect">
            <a:avLst>
              <a:gd name="adj" fmla="val 2609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9923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Mechanizm — nazwany wprost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401568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Uczący się scorer preferencji (affinity-learner) + wsadowy re-fit, wersjonowana polityka per najemca.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NIE jest produkcyjny RL — mówimy o tym pierwsi, zanim ktokolwiek zapyta.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Samonaprawa: propozycja walidowana żywym solverem, złamane reguły nazwane przed naprawą.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0" y="1783080"/>
            <a:ext cx="4114800" cy="402336"/>
          </a:xfrm>
          <a:prstGeom prst="roundRect">
            <a:avLst>
              <a:gd name="adj" fmla="val 18182"/>
            </a:avLst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78308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Samoucząca się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98080" y="2313432"/>
            <a:ext cx="4114800" cy="402336"/>
          </a:xfrm>
          <a:prstGeom prst="roundRect">
            <a:avLst>
              <a:gd name="adj" fmla="val 18182"/>
            </a:avLst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31343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Wnioskująca — podaje rationale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98080" y="2843784"/>
            <a:ext cx="4114800" cy="402336"/>
          </a:xfrm>
          <a:prstGeom prst="roundRect">
            <a:avLst>
              <a:gd name="adj" fmla="val 18182"/>
            </a:avLst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284378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Samolecząca propozycje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98080" y="3374136"/>
            <a:ext cx="4114800" cy="402336"/>
          </a:xfrm>
          <a:prstGeom prst="roundRect">
            <a:avLst>
              <a:gd name="adj" fmla="val 18182"/>
            </a:avLst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337413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Samorozwijająca się (re-fit)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98080" y="4023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Znane ograniczenie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98080" y="4370832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transferu uczenia między tygodniami — klucz uczenia zawiera datę, więc kolejny tydzień startuje od zera. Zmierzone i udokumentowane; do domknięcia w kolejnym etapie.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HRobot.AI  ·  Poland Prize / PARP  ·  4Mobility  ·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RZETELNOŚĆ POMIARU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zmierzyliśmy uczenie — i dlaczego sami podważyliśmy własny wynik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1F1F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KM2 raportowaliśmy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762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A61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→ 0 w 6 rundach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Zgodność 52% → 100%, krzywa monotoniczna. Scenariusz „skonstruowany”.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EAF5EE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8745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autokorekcie — pomiar niezależny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21762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→ 0 w 17 rundach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446520" y="2697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Krzywa NIEmonotoniczna. Próba kontrolna bez feedbacku: idealnie płaska. Powtórzone dla 6 różnych managerów.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69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sami znaleźliśmy i zgłosiliśmy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44348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scenariuszu z KM2 wzorzec „decyzji managera” był generowany tą samą funkcją, której używa agent — więc zbieżność wynikała po części z konstrukcji testu, a nie wyłącznie z uczenia. Wykryliśmy to podczas własnego audytu i dobudowaliśmy scenariusz, w którym preferencja managera jest zdefiniowana całkowicie niezależnie od mechanizmu agenta. Agent nadal się uczy — wolniej i nierówno, czyli tak, jak wygląda prawdziwe uczenie. Cały przebieg jest odtwarzalny jedną komendą.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HRobot.AI  ·  Poland Prize / PARP  ·  4Mobility  ·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Trzy nowe moduły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36118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Dokumenty kadrowe  ·  Analityk HR  ·  Asystent głosowy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HRobot.AI  ·  Poland Prize / PARP  ·  4Mobility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DOKUMENTY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Dokumenty kadrowo-płacowe liczone z danych RCP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868680"/>
          </a:xfrm>
          <a:prstGeom prst="roundRect">
            <a:avLst>
              <a:gd name="adj" fmla="val 9474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0195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Ewidencja czasu pracy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5856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liczony z realnego grafiku i zdarzeń RCP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6675120" cy="868680"/>
          </a:xfrm>
          <a:prstGeom prst="roundRect">
            <a:avLst>
              <a:gd name="adj" fmla="val 9474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0779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Nadgodziny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26440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Automatyczne rozbicie na 50% i 100%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6675120" cy="868680"/>
          </a:xfrm>
          <a:prstGeom prst="roundRect">
            <a:avLst>
              <a:gd name="adj" fmla="val 9474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1363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Eksport ZUS/Płatnik (KEDU)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27024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Szkielet XML gotowy do weryfikacji przez kadry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Zakres: pojedynczy pracownik, cała jednostka albo cała firma — 39 osób jednym kliknięciem.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0920" y="1783080"/>
            <a:ext cx="4251960" cy="41148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635240" y="2011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 nadrzędna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35240" y="245059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"Dokument generuje maszyna — zatwierdza i wysyła człowiek."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35240" y="3291840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HRobot liczy ewidencję, nadgodziny i szkielet ZUS, ale niczego nie zatwierdza ani nigdzie nie wysyła. Każdy dokument o skutku prawnym wymaga decyzji uprawnionej osoby — zgodnie z art. 22 RODO.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HRobot.AI  ·  Poland Prize / PARP  ·  4Mobility  ·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ANALITYK HR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Sygnały, na które warto zwrócić uwagę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Liczone na bieżących danych z systemu, nie na szacunkach — każda liczba ma podaną proweniencję (policzona czy planowana).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675120" cy="960120"/>
          </a:xfrm>
          <a:prstGeom prst="roundRect">
            <a:avLst>
              <a:gd name="adj" fmla="val 8571"/>
            </a:avLst>
          </a:prstGeom>
          <a:solidFill>
            <a:srgbClr val="FBF3E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6856"/>
            <a:ext cx="1325880" cy="310896"/>
          </a:xfrm>
          <a:prstGeom prst="roundRect">
            <a:avLst>
              <a:gd name="adj" fmla="val 20588"/>
            </a:avLst>
          </a:prstGeom>
          <a:solidFill>
            <a:srgbClr val="B8720A">
              <a:alpha val="14000"/>
            </a:srgbClr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7685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WYSOKA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22219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Skok absencji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4028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+4,1 p.p. — z 4,4% do 8,4% wobec poprzedniego okresu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18688"/>
            <a:ext cx="6675120" cy="960120"/>
          </a:xfrm>
          <a:prstGeom prst="roundRect">
            <a:avLst>
              <a:gd name="adj" fmla="val 8571"/>
            </a:avLst>
          </a:prstGeom>
          <a:solidFill>
            <a:srgbClr val="FBF3E7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392424"/>
            <a:ext cx="1325880" cy="310896"/>
          </a:xfrm>
          <a:prstGeom prst="roundRect">
            <a:avLst>
              <a:gd name="adj" fmla="val 20588"/>
            </a:avLst>
          </a:prstGeom>
          <a:solidFill>
            <a:srgbClr val="8A6A1E">
              <a:alpha val="14000"/>
            </a:srgbClr>
          </a:solidFill>
          <a:ln w="12700">
            <a:solidFill>
              <a:srgbClr val="8A6A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9242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0" y="33375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Rosnąca kolejka wniosków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40280" y="36758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wniosków w toku — z 5 do 11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wyłącznie obserwuje i sygnalizuje — nie podejmuje żadnych działań kadrowych.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52360" y="1783080"/>
            <a:ext cx="1965960" cy="1097280"/>
          </a:xfrm>
          <a:prstGeom prst="roundRect">
            <a:avLst>
              <a:gd name="adj" fmla="val 7500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7598664" y="19019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 os.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598664" y="24048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 zatrudnienia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573768" y="1783080"/>
            <a:ext cx="1965960" cy="1097280"/>
          </a:xfrm>
          <a:prstGeom prst="roundRect">
            <a:avLst>
              <a:gd name="adj" fmla="val 7500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9720072" y="19019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8,4%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720072" y="24048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wskaźnik absencji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52360" y="3081528"/>
            <a:ext cx="1965960" cy="1097280"/>
          </a:xfrm>
          <a:prstGeom prst="roundRect">
            <a:avLst>
              <a:gd name="adj" fmla="val 7500"/>
            </a:avLst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7598664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1368 h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98664" y="3703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godzin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573768" y="3081528"/>
            <a:ext cx="1965960" cy="1097280"/>
          </a:xfrm>
          <a:prstGeom prst="roundRect">
            <a:avLst>
              <a:gd name="adj" fmla="val 7500"/>
            </a:avLst>
          </a:prstGeom>
          <a:solidFill>
            <a:srgbClr val="F4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9720072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7,2 dnia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720072" y="3703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decyzji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52360" y="4434840"/>
            <a:ext cx="4087368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0" y="4617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wyliczeń i scoringu trafiają wyłącznie identyfikatory i liczby — nigdy dane osobowe. Nazwiska podstawiane są dopiero w przeglądarce, dla uprawnionej roli.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HRobot.AI  ·  Poland Prize / PARP  ·  4Mobility  ·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ASYSTENT GŁOSOWY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Polecenia po polsku, potwierdzenie zawsze od człowieka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537960" cy="4160520"/>
          </a:xfrm>
          <a:prstGeom prst="roundRect">
            <a:avLst>
              <a:gd name="adj" fmla="val 1978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9339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„Chcę wziąć urlop wypoczynkowy 20 sierpnia"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2542032"/>
            <a:ext cx="58521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724912"/>
            <a:ext cx="3200400" cy="310896"/>
          </a:xfrm>
          <a:prstGeom prst="roundRect">
            <a:avLst>
              <a:gd name="adj" fmla="val 20588"/>
            </a:avLst>
          </a:prstGeom>
          <a:solidFill>
            <a:srgbClr val="1E8A5C">
              <a:alpha val="14000"/>
            </a:srgbClr>
          </a:solidFill>
          <a:ln w="12700">
            <a:solidFill>
              <a:srgbClr val="1E8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249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WNIOSEK URLOPOWY · PEWNOŚĆ 90%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97280" y="312724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złożyć wniosek (URLOP_WYPOCZYNKOWY) na 2026-08-20? Wymagane potwierdzenie.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97280" y="3639312"/>
            <a:ext cx="1920240" cy="310896"/>
          </a:xfrm>
          <a:prstGeom prst="roundRect">
            <a:avLst>
              <a:gd name="adj" fmla="val 2058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6393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Potwierdź i wykonaj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42062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nieodwracalnego nie dzieje się bez wyraźnego kliknięcia. Asystent nigdy nie wykonuje polecenia zapisującego „w ciemno”.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60920" y="1737360"/>
            <a:ext cx="4251960" cy="4160520"/>
          </a:xfrm>
          <a:prstGeom prst="roundRect">
            <a:avLst>
              <a:gd name="adj" fmla="val 1978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635240" y="19659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Zakres dziś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35240" y="2377440"/>
            <a:ext cx="3703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Wąski, celowy parser intencji po polsku — wnioski urlopowe i pytania o własny grafik. To świadomie NIE jest ogólny czat: pytanie spoza zakresu wraca do formularza, zamiast zgadywać w sprawie o skutkach prawnych.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635240" y="41605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35240" y="452628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Transkrypcja mowy liczona lokalnie (faster-whisper). Nagranie głosu nigdy nie opuszcza infrastruktury w UE.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HRobot.AI  ·  Poland Prize / PARP  ·  4Mobility  ·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NA ŻYWO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Jeden system, cztery role — uprawnienia pilnowane na serwerze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520440"/>
          </a:xfrm>
          <a:prstGeom prst="roundRect">
            <a:avLst>
              <a:gd name="adj" fmla="val 3158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103120"/>
            <a:ext cx="2240280" cy="347472"/>
          </a:xfrm>
          <a:prstGeom prst="roundRect">
            <a:avLst>
              <a:gd name="adj" fmla="val 18421"/>
            </a:avLst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990088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Pełny obraz organizacji: wszystkie moduły, kartoteki, ustawienia i użytkownicy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874520"/>
            <a:ext cx="2606040" cy="3520440"/>
          </a:xfrm>
          <a:prstGeom prst="roundRect">
            <a:avLst>
              <a:gd name="adj" fmla="val 3158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2103120"/>
            <a:ext cx="2240280" cy="347472"/>
          </a:xfrm>
          <a:prstGeom prst="roundRect">
            <a:avLst>
              <a:gd name="adj" fmla="val 18421"/>
            </a:avLst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103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26060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manager.demo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990088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Skrzynka decyzji Regionu Centrum — wnioski, zamiany, koszt tygodnia w budżecie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2606040" cy="3520440"/>
          </a:xfrm>
          <a:prstGeom prst="roundRect">
            <a:avLst>
              <a:gd name="adj" fmla="val 3158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2103120"/>
            <a:ext cx="2240280" cy="347472"/>
          </a:xfrm>
          <a:prstGeom prst="roundRect">
            <a:avLst>
              <a:gd name="adj" fmla="val 18421"/>
            </a:avLst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103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PRACOWNIK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6060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pracownik.demo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990088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Własny grafik i mobilna trasa „Mój tydzień” — ekran dla osoby w terenie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874520"/>
            <a:ext cx="2606040" cy="3520440"/>
          </a:xfrm>
          <a:prstGeom prst="roundRect">
            <a:avLst>
              <a:gd name="adj" fmla="val 3158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2103120"/>
            <a:ext cx="2240280" cy="347472"/>
          </a:xfrm>
          <a:prstGeom prst="roundRect">
            <a:avLst>
              <a:gd name="adj" fmla="val 18421"/>
            </a:avLst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2103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PRACOWNIK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35440" y="26060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pracownica.demo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35440" y="2990088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sam widok, inny region — dowód, że podział danych działa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Manager, który wpisze adres cudzego modułu wprost w przeglądarce, dostaje odmowę z serwera — nie samo ukrycie przycisku w interfejsie.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HRobot.AI  ·  Poland Prize / PARP  ·  4Mobility  ·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UCZCIWY STAN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działa dziś, co dochodzi w kolejnym etapie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EAF5E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 I JEST ZWERYFIKOWANE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395728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CP-SAT: pokrycie, kolizje, urlopy, 11 h odpoczynku (H1–H4)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uczący się preferencji — zmierzony niezależnym scenariuszem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Zamiany zmian z walidacją solverem i zatwierdzeniem managera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Dokumenty: ewidencja, nadgodziny, ZUS/KEDU — także dla całej firmy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Analityk HR z proweniencją każdej liczby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Asystent głosowy z obowiązkowym potwierdzeniem człowieka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594 testy frontu + 857 testów backendu; uprawnienia sprawdzone na 4 rolach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FBF3E7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011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KOLEJNY ETAP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46520" y="2395728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(odpoczynek tygodniowy 35 h) i H6 (limity nadgodzin) jako twarde reguły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uczenia agenta między tygodniami — dziś start od zera co tydzień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Zamiana inicjowana wprost z grafiku pracownika + powiadomienia na żywo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Realny routing dojazdów (OSRM) zamiast odległości w linii prostej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Asystent poza wnioskami urlopowymi — pytania o obsadę i grafik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HRobot.AI  ·  Poland Prize / PARP  ·  4Mobility  ·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57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Dziękujemy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9718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Układamy grafik zgodny z prawem, agent uczy się specyfiki zespołu, dokumenty liczą się z realnych danych, Analityk pokazuje na co zwrócić uwagę, a asystent i mobilna trasa pracownika biorą pod uwagę kogoś, kto pracuje przy samochodzie, nie przy biurku.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4526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HRobot.AI  ·  Poland Prize / PARP  ·  4Mobility  · 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2026-08-10T14:12:18Z</dcterms:created>
  <dcterms:modified xsi:type="dcterms:W3CDTF">2026-08-10T14:12:18Z</dcterms:modified>
</cp:coreProperties>
</file>